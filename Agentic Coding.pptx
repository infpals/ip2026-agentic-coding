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Roboto Serif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jkVZLlJ7a+Z/vePcbhAhzxqC/j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SerifSemiBold-bold.fntdata"/><Relationship Id="rId41" Type="http://schemas.openxmlformats.org/officeDocument/2006/relationships/font" Target="fonts/RobotoSerifSemiBold-regular.fntdata"/><Relationship Id="rId22" Type="http://schemas.openxmlformats.org/officeDocument/2006/relationships/slide" Target="slides/slide17.xml"/><Relationship Id="rId44" Type="http://schemas.openxmlformats.org/officeDocument/2006/relationships/font" Target="fonts/RobotoSerifSemiBold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SerifSemiBold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7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10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9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1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2a09efe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62a09efe0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2a09efe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f62a09efe0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62a09efe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f62a09efe0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62a09efe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62a09efe0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2a09efe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62a09efe0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62a09efe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f62a09efe0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2a09efe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f62a09efe0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62a09efe0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f62a09efe0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585972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f6585972d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6585972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f6585972d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585972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f6585972d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6585972d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f6585972de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6585972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f6585972d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6585972d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f6585972d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6585972d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f6585972d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6585972d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f6585972d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585972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f6585972d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585972d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f6585972de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1" name="Google Shape;11;p37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7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7"/>
          <p:cNvSpPr txBox="1"/>
          <p:nvPr>
            <p:ph type="ctrTitle"/>
          </p:nvPr>
        </p:nvSpPr>
        <p:spPr>
          <a:xfrm>
            <a:off x="415600" y="992767"/>
            <a:ext cx="7850000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415599" y="3429000"/>
            <a:ext cx="7849999" cy="1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7" name="Google Shape;1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38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23" name="Google Shape;2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39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9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32" name="Google Shape;32;p41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1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1"/>
          <p:cNvSpPr txBox="1"/>
          <p:nvPr>
            <p:ph type="ctrTitle"/>
          </p:nvPr>
        </p:nvSpPr>
        <p:spPr>
          <a:xfrm>
            <a:off x="633046" y="2296608"/>
            <a:ext cx="9043517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2" name="Google Shape;42;p43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47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9" name="Google Shape;59;p48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0" name="Google Shape;60;p48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1" name="Google Shape;61;p48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8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3" name="Google Shape;63;p48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" name="Google Shape;64;p48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8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6" name="Google Shape;66;p48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7" name="Google Shape;67;p48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8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9" name="Google Shape;69;p48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0" name="Google Shape;70;p48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8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1" name="Google Shape;81;g3f6585972de_0_138"/>
          <p:cNvPicPr preferRelativeResize="0"/>
          <p:nvPr/>
        </p:nvPicPr>
        <p:blipFill rotWithShape="1">
          <a:blip r:embed="rId2">
            <a:alphaModFix/>
          </a:blip>
          <a:srcRect b="0" l="65507" r="0" t="39911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f6585972de_0_138"/>
          <p:cNvPicPr preferRelativeResize="0"/>
          <p:nvPr/>
        </p:nvPicPr>
        <p:blipFill rotWithShape="1">
          <a:blip r:embed="rId3">
            <a:alphaModFix/>
          </a:blip>
          <a:srcRect b="0" l="0" r="51988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6585972de_0_138"/>
          <p:cNvSpPr txBox="1"/>
          <p:nvPr>
            <p:ph type="ctrTitle"/>
          </p:nvPr>
        </p:nvSpPr>
        <p:spPr>
          <a:xfrm>
            <a:off x="415600" y="992767"/>
            <a:ext cx="78501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84" name="Google Shape;84;g3f6585972de_0_138"/>
          <p:cNvSpPr txBox="1"/>
          <p:nvPr>
            <p:ph idx="1" type="subTitle"/>
          </p:nvPr>
        </p:nvSpPr>
        <p:spPr>
          <a:xfrm>
            <a:off x="415599" y="3429000"/>
            <a:ext cx="78501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85" name="Google Shape;85;g3f6585972de_0_13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7" name="Google Shape;87;g3f6585972de_0_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f6585972de_0_14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g3f6585972de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g3f6585972de_0_144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6585972de_0_144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93" name="Google Shape;93;g3f6585972de_0_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585972de_0_1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f6585972de_0_15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" name="Google Shape;96;g3f6585972de_0_150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6585972de_0_150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585972de_0_15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3f6585972de_0_1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02" name="Google Shape;102;g3f6585972de_0_159"/>
          <p:cNvPicPr preferRelativeResize="0"/>
          <p:nvPr/>
        </p:nvPicPr>
        <p:blipFill rotWithShape="1">
          <a:blip r:embed="rId2">
            <a:alphaModFix/>
          </a:blip>
          <a:srcRect b="0" l="65507" r="0" t="39911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6585972de_0_159"/>
          <p:cNvPicPr preferRelativeResize="0"/>
          <p:nvPr/>
        </p:nvPicPr>
        <p:blipFill rotWithShape="1">
          <a:blip r:embed="rId3">
            <a:alphaModFix/>
          </a:blip>
          <a:srcRect b="0" l="0" r="51988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585972de_0_159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05" name="Google Shape;105;g3f6585972de_0_1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585972de_0_16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g3f6585972de_0_16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585972de_0_16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g3f6585972de_0_16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g3f6585972de_0_16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3" name="Google Shape;113;g3f6585972de_0_16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585972de_0_17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g3f6585972de_0_17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585972de_0_175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19" name="Google Shape;119;g3f6585972de_0_17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3f6585972de_0_17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585972de_0_17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585972de_0_18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g3f6585972de_0_18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g3f6585972de_0_181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585972de_0_1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9" name="Google Shape;129;g3f6585972de_0_185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0" name="Google Shape;130;g3f6585972de_0_185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1" name="Google Shape;131;g3f6585972de_0_185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6585972de_0_185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3" name="Google Shape;133;g3f6585972de_0_185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4" name="Google Shape;134;g3f6585972de_0_185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6585972de_0_185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6" name="Google Shape;136;g3f6585972de_0_185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7" name="Google Shape;137;g3f6585972de_0_185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6585972de_0_185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9" name="Google Shape;139;g3f6585972de_0_185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40" name="Google Shape;140;g3f6585972de_0_185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6585972de_0_185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g3f6585972de_0_185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g3f6585972de_0_185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g3f6585972de_0_185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585972de_0_1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f6585972de_0_133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g3f6585972de_0_1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g3f6585972de_0_1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hyperlink" Target="https://missing.csail.mit.edu" TargetMode="External"/><Relationship Id="rId6" Type="http://schemas.openxmlformats.org/officeDocument/2006/relationships/hyperlink" Target="https://missing.csail.mit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features/copilot/cli" TargetMode="External"/><Relationship Id="rId4" Type="http://schemas.openxmlformats.org/officeDocument/2006/relationships/hyperlink" Target="https://learn.chatgpt.com/docs/codex/cli#getting-started" TargetMode="External"/><Relationship Id="rId5" Type="http://schemas.openxmlformats.org/officeDocument/2006/relationships/hyperlink" Target="https://code.claude.com/docs/en/quickstar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2a09efe0_0_77"/>
          <p:cNvSpPr txBox="1"/>
          <p:nvPr>
            <p:ph type="ctrTitle"/>
          </p:nvPr>
        </p:nvSpPr>
        <p:spPr>
          <a:xfrm>
            <a:off x="415600" y="992767"/>
            <a:ext cx="78501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</a:pPr>
            <a:r>
              <a:rPr lang="en-GB"/>
              <a:t>Agentic Coding</a:t>
            </a:r>
            <a:endParaRPr/>
          </a:p>
        </p:txBody>
      </p:sp>
      <p:sp>
        <p:nvSpPr>
          <p:cNvPr id="150" name="Google Shape;150;g3f62a09efe0_0_77"/>
          <p:cNvSpPr txBox="1"/>
          <p:nvPr>
            <p:ph idx="1" type="subTitle"/>
          </p:nvPr>
        </p:nvSpPr>
        <p:spPr>
          <a:xfrm>
            <a:off x="415599" y="3429000"/>
            <a:ext cx="78501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GB"/>
              <a:t>Improves coding </a:t>
            </a:r>
            <a:r>
              <a:rPr lang="en-GB"/>
              <a:t>efficiency</a:t>
            </a:r>
            <a:endParaRPr/>
          </a:p>
        </p:txBody>
      </p:sp>
      <p:pic>
        <p:nvPicPr>
          <p:cNvPr id="151" name="Google Shape;151;g3f62a09efe0_0_77" title="clau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2500" y="2486850"/>
            <a:ext cx="1884301" cy="188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f62a09efe0_0_77" title="codex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8099" y="4523551"/>
            <a:ext cx="2182050" cy="21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f62a09efe0_0_77"/>
          <p:cNvSpPr txBox="1"/>
          <p:nvPr>
            <p:ph idx="1" type="subTitle"/>
          </p:nvPr>
        </p:nvSpPr>
        <p:spPr>
          <a:xfrm>
            <a:off x="0" y="6322975"/>
            <a:ext cx="59583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ct val="75007"/>
              <a:buNone/>
            </a:pPr>
            <a:r>
              <a:rPr lang="en-GB"/>
              <a:t>*Part of materials adapted from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missing-</a:t>
            </a:r>
            <a:r>
              <a:rPr lang="en-GB" u="sng">
                <a:solidFill>
                  <a:schemeClr val="hlink"/>
                </a:solidFill>
                <a:hlinkClick r:id="rId6"/>
              </a:rPr>
              <a:t>semester</a:t>
            </a:r>
            <a:r>
              <a:rPr lang="en-GB"/>
              <a:t>, MIT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Before we begin…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Agentic Coding tool are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NOT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meant to replace all your individual works, especially when it comes to courseworks!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are responsible for using the tool, and checking school regulations for AI usage policy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Some courses may explicitly allow you to use such tools, while others may not!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 Large Language Model works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LLMs are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probabilistic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models for natural language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Giving a prompt/input, the model computes a probability distribution of output words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Then model the choose the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most probable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word and repeat the whole process until it produces EOS (End Of Sentence) symbol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Output from last turn of chat is concatenated to the input of the next turn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And they have a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context window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, which you can think of as its “memory capacity”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2a09efe0_0_203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 Large Language Model works - continued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f62a09efe0_0_203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Each word/subword/affix produced by the LLM is called a ‘</a:t>
            </a: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token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’, and typically the companies put a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limitation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on the number of tokens the LLM is allowed to produce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think of this as a ‘LLM currency’, you pay for more tokens, and LLMs can do more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things for you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2a09efe0_0_186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When it comes to Agentic Coding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3f62a09efe0_0_186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Agentic Coding tools are just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LLM + harness </a:t>
            </a:r>
            <a:endParaRPr sz="2400">
              <a:solidFill>
                <a:srgbClr val="FFC83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LLM itself can </a:t>
            </a:r>
            <a:r>
              <a:rPr lang="en-GB" sz="2400">
                <a:solidFill>
                  <a:srgbClr val="FFC83D"/>
                </a:solidFill>
                <a:latin typeface="Roboto Medium"/>
                <a:ea typeface="Roboto Medium"/>
                <a:cs typeface="Roboto Medium"/>
                <a:sym typeface="Roboto Medium"/>
              </a:rPr>
              <a:t>only produce text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, and it is the harness tool that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interpret the text, and do useful things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Execute commands,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Read images,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etc.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When the harness finishes executing the output is then feed back to LLM, and this loop continues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General workflow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16068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prompt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357572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LLM interpret + generate text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299076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LLM harness execution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240580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Execution results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182083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 final artifact and summary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0123587" y="4054207"/>
            <a:ext cx="1652343" cy="660937"/>
          </a:xfrm>
          <a:custGeom>
            <a:rect b="b" l="l" r="r" t="t"/>
            <a:pathLst>
              <a:path extrusionOk="0" h="660937" w="1652343">
                <a:moveTo>
                  <a:pt x="0" y="0"/>
                </a:moveTo>
                <a:lnTo>
                  <a:pt x="1652343" y="0"/>
                </a:lnTo>
                <a:lnTo>
                  <a:pt x="1652343" y="660937"/>
                </a:lnTo>
                <a:lnTo>
                  <a:pt x="0" y="66093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</a:t>
            </a: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verify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8"/>
          <p:cNvSpPr/>
          <p:nvPr/>
        </p:nvSpPr>
        <p:spPr>
          <a:xfrm flipH="1">
            <a:off x="977680" y="1750475"/>
            <a:ext cx="10195200" cy="11433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100000" name="adj5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5649572" y="1750485"/>
            <a:ext cx="85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982107" y="2947137"/>
            <a:ext cx="420300" cy="5784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964964" y="2947137"/>
            <a:ext cx="420300" cy="5784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865115" y="2941238"/>
            <a:ext cx="420300" cy="5784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847972" y="2941238"/>
            <a:ext cx="420300" cy="5784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789822" y="2941238"/>
            <a:ext cx="420300" cy="5784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3797300" y="965200"/>
            <a:ext cx="1778100" cy="8889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7" name="Google Shape;197;p8" title="icons8-edit-text-file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675" y="29923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 title="icons8-chat-gpt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550" y="298111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 title="icons8-console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575" y="298110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 rot="10800000">
            <a:off x="2825172" y="4715150"/>
            <a:ext cx="4416000" cy="11433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100000" name="adj5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3740400" y="5550650"/>
            <a:ext cx="27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 feedback to LLM,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8" title="icons8-document-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8575" y="2992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 title="icons8-folder-5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0925" y="29982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 title="icons8-done-5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32775" y="299820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2a09efe0_0_214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45"/>
              <a:buFont typeface="Roboto Serif SemiBold"/>
              <a:buNone/>
            </a:pPr>
            <a:r>
              <a:rPr lang="en-GB"/>
              <a:t>How to use them in IDEs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2a09efe0_0_195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Download Agentic Coding in IDEs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g3f62a09efe0_0_195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Take VS Code as an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example, it supports GitHub Copilot extension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a student, you can use it freely by apply GitHub Education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https://github.com/education/students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Alternatively, you can use Codex or Claude Code, but you probably need to pay for their plans to get more tokens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2a09efe0_0_209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Agentic Coding tools in IDEs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g3f62a09efe0_0_209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There more than one way to use those tools in IDEs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Autocomplete: Good for local changes pass your cursor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In-line chat: Good for making adaptations to a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selected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area of code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General chat: Capable for most cases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2a09efe0_0_37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Autocomplete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f62a09efe0_0_372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AI agents can read your </a:t>
            </a: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local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coding context and try to make a guess to what you want to implement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Properties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Only make local changes </a:t>
            </a: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pass your cursor 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write comments to tell the agents what you want to do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Has a limited understanding of the entire project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28" name="Google Shape;228;g3f62a09efe0_0_3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299" y="742475"/>
            <a:ext cx="5204400" cy="304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g3f62a09efe0_0_3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300" y="3496701"/>
            <a:ext cx="5204400" cy="304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g3f62a09efe0_0_3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003279">
            <a:off x="6411650" y="5471800"/>
            <a:ext cx="979500" cy="9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2a09efe0_0_45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In-line Chat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f62a09efe0_0_452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drag-select a region of your code and use Ctrl/Cmd + i to ask the agent change that part of the code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Properties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Only make local changes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 the local region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write comments to tell the agents what you want to do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Has a limited understanding of the entire project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37" name="Google Shape;237;g3f62a09efe0_0_4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003279">
            <a:off x="5895225" y="5689825"/>
            <a:ext cx="979500" cy="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f62a09efe0_0_452" title="03756552712f97a41d7dc36d5877109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300" y="734450"/>
            <a:ext cx="5204400" cy="325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g3f62a09efe0_0_4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0292" y="3301597"/>
            <a:ext cx="5204400" cy="325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585972de_0_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</a:t>
            </a: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Chat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3f6585972de_0_2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will see a sidebar on the right of your screen for all the AI extension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Properties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Can make changes to all files in your working directory 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prompt the agent to tell it what to do or implement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Able to use the entire code base as the context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6" name="Google Shape;246;g3f6585972de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003279">
            <a:off x="10826525" y="950275"/>
            <a:ext cx="979500" cy="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f6585972de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300" y="1906838"/>
            <a:ext cx="5204400" cy="304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6585972de_0_11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45"/>
              <a:buFont typeface="Roboto Serif SemiBold"/>
              <a:buNone/>
            </a:pPr>
            <a:r>
              <a:rPr lang="en-GB"/>
              <a:t>How to use them in Terminals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585972de_0_15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Download Agentic Coding tools for </a:t>
            </a: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terminals</a:t>
            </a: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3f6585972de_0_15"/>
          <p:cNvSpPr txBox="1"/>
          <p:nvPr/>
        </p:nvSpPr>
        <p:spPr>
          <a:xfrm>
            <a:off x="415600" y="1536624"/>
            <a:ext cx="7837200" cy="50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Most modern Agentic coding tools also support terminal-based workflows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will need to install their CLI via your terminal, but these tools only support general chat function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Some useful links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 u="sng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https://github.com/features/copilot/cli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 u="sng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https://learn.chatgpt.com/docs/codex/cli#getting-started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 u="sng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https://code.claude.com/docs/en/quickstart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585972de_0_26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45"/>
              <a:buFont typeface="Roboto Serif SemiBold"/>
              <a:buNone/>
            </a:pPr>
            <a:r>
              <a:rPr lang="en-GB"/>
              <a:t>Use cases &amp; Features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6585972de_0_31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cases for Agentice Coding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g3f6585972de_0_31"/>
          <p:cNvSpPr txBox="1"/>
          <p:nvPr/>
        </p:nvSpPr>
        <p:spPr>
          <a:xfrm>
            <a:off x="415600" y="1536625"/>
            <a:ext cx="78372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 understanding: Agents can read a large code base and translate the logic to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natural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language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Fixing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errors: Agents can help you identify hidden bugs. They are more useful in a feedback loop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Refactoring: Agents can free you from nasty refactoring process, from renaming to extraction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a shell: Agents can help you complete the desired task without you knowing the low-level commands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Vibe coding, implementing new features: Typical use case. Test-driven development can be helpful here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6585972de_0_40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Advanced features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g3f6585972de_0_40"/>
          <p:cNvSpPr txBox="1"/>
          <p:nvPr/>
        </p:nvSpPr>
        <p:spPr>
          <a:xfrm>
            <a:off x="415600" y="1536625"/>
            <a:ext cx="78372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Reusable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prompts: You can design prompts that instructs the agents to work in a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specific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way, and you can resume that again and again 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MCP: Model Context Protocol, an protocol that helps you connect your coding agent with tools, enabling it to do other tasks such as making Notion docs, even 3D modeling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Context management: LLMs have a limited context window, so you want the agent to have enough information but avoid unnecessary context.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585972de_0_45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Context management</a:t>
            </a: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 continued 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g3f6585972de_0_45"/>
          <p:cNvSpPr txBox="1"/>
          <p:nvPr/>
        </p:nvSpPr>
        <p:spPr>
          <a:xfrm>
            <a:off x="415600" y="1536625"/>
            <a:ext cx="7837200" cy="5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Basic managements: clear, rewinding, compaction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lear: use a different chat for irrelevant works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ewinding: you can add another prompt while the agent is still processing the previous one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ompaction: summaries the chat history so that it saves the context window space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AGENTS.md: A README for agents, you can tell it to automatically read it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every time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Skills: Reusable instructions for how to perform a task. Agents can choose to load skills, saving context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585972de_0_36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23"/>
              <a:buFont typeface="Roboto Serif SemiBold"/>
              <a:buNone/>
            </a:pPr>
            <a:r>
              <a:rPr lang="en-GB"/>
              <a:t>Privacy</a:t>
            </a:r>
            <a:r>
              <a:rPr lang="en-GB"/>
              <a:t> &amp; Issues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6585972de_0_50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Important note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g3f6585972de_0_50"/>
          <p:cNvSpPr txBox="1"/>
          <p:nvPr/>
        </p:nvSpPr>
        <p:spPr>
          <a:xfrm>
            <a:off x="415600" y="1536625"/>
            <a:ext cx="78372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Most AI companies use your </a:t>
            </a: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conversion as a training data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. If you tell the agent your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personal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information (passwords, etc.) there is a chance that someone can get it by prompt the agent in a certain way!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These agents are built on top of LLM, which as we discussed, is a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probabilistic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model. This means they do not “understand” things as humans, and they can produce </a:t>
            </a:r>
            <a:r>
              <a:rPr lang="en-GB" sz="24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sound but incorrect answers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!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&gt;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So be careful when you interact with such tools and do not fully trust them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6585972de_0_129"/>
          <p:cNvSpPr txBox="1"/>
          <p:nvPr/>
        </p:nvSpPr>
        <p:spPr>
          <a:xfrm>
            <a:off x="782271" y="229665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33"/>
              <a:buFont typeface="Arial"/>
              <a:buNone/>
            </a:pPr>
            <a:r>
              <a:rPr b="0" i="0" lang="en-GB" sz="6933" u="none" cap="none" strike="noStrike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Thanks for Coming!</a:t>
            </a:r>
            <a:endParaRPr b="0" i="0" sz="6933" u="none" cap="none" strike="noStrike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2023-07-01T11:43:35Z</dcterms:created>
  <dc:creator>Elliot Lister</dc:creator>
</cp:coreProperties>
</file>